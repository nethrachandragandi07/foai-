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25" d="100"/>
          <a:sy n="125" d="100"/>
        </p:scale>
        <p:origin x="72" y="-35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47306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a symbolic-AI resume screener that treats mandatory job requirements as constraints (CSP) and ranks eligible candidates with a weighted heuristic score. No machine learning is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Problem: manual screening is slow, keyword filters are opaque. Our solution: CSP for mandatory criteria, constraint propagation for early rejection, heuristic score for ranking. Symbolic AI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pipeline left to right. Stage 4 is the CSP check using constraint propagation and backtracking; stage 6 is BFS over the candidate queue; stage 7 is the weighted heuristic ranking. Edit the technology stack to match your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1 prepares data, Module 2 decides eligibility using constraints with backtracking, Module 3 uses BFS to explore candidates and ranks the eligible ones with the weighted heuristic.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flow: enter job criteria, add a candidate who passes and one who fails, show the ranked list and the rejection reason.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Summarise: explainable baseline. Limitations: depends on correct input, rule weights are manually chosen, human review is essential.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7F2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760720" cy="5143500"/>
          </a:xfrm>
          <a:prstGeom prst="rect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914400"/>
            <a:ext cx="822960" cy="64008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5029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FB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OF ARTIFICIAL INTELLIGENCE  |  PROJECT REVIEW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18872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AI-Based Resume Screener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2860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D5E6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candidate screening using CSP with backtracking, BFS and heuristic scoring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1546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4290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NETHRA CHANDRAGANDHI T       240701357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NETHRA G                                          240701358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297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5E6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by: </a:t>
            </a:r>
            <a:r>
              <a:rPr lang="en-US" sz="1100" i="1" dirty="0" err="1">
                <a:solidFill>
                  <a:srgbClr val="D5E6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Mrs.Deepa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89320" y="1371600"/>
            <a:ext cx="2743200" cy="548640"/>
          </a:xfrm>
          <a:prstGeom prst="roundRect">
            <a:avLst>
              <a:gd name="adj" fmla="val 20000"/>
            </a:avLst>
          </a:prstGeom>
          <a:solidFill>
            <a:srgbClr val="8FB8BF"/>
          </a:solidFill>
          <a:ln w="12700">
            <a:solidFill>
              <a:srgbClr val="8FB8B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989320" y="13716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Resumes in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7086600" y="190195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B6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355080" y="2084832"/>
            <a:ext cx="2011680" cy="548640"/>
          </a:xfrm>
          <a:prstGeom prst="roundRect">
            <a:avLst>
              <a:gd name="adj" fmla="val 20000"/>
            </a:avLst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55080" y="2084832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CSP constraint filter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7086600" y="261518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B6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720840" y="2798064"/>
            <a:ext cx="1280160" cy="548640"/>
          </a:xfrm>
          <a:prstGeom prst="roundRect">
            <a:avLst>
              <a:gd name="adj" fmla="val 20000"/>
            </a:avLst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720840" y="2798064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shortlist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5989320" y="3611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3C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= 50S + 20P + 15E + 10C + 5X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5989320" y="3886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F6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candidates are filtered out with reasons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74320"/>
            <a:ext cx="182880" cy="64008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02920" y="256032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B3C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Statement &amp; Abstract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02920" y="749808"/>
            <a:ext cx="640080" cy="4572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92440" y="274320"/>
            <a:ext cx="594360" cy="310896"/>
          </a:xfrm>
          <a:prstGeom prst="roundRect">
            <a:avLst>
              <a:gd name="adj" fmla="val 50000"/>
            </a:avLst>
          </a:prstGeom>
          <a:solidFill>
            <a:srgbClr val="E7F2F3"/>
          </a:solidFill>
          <a:ln w="12700">
            <a:solidFill>
              <a:srgbClr val="E7F2F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092440" y="274320"/>
            <a:ext cx="594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6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4828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F6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Resume Screener  |  Foundations of AI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02920" y="1005840"/>
            <a:ext cx="3291840" cy="2560320"/>
          </a:xfrm>
          <a:prstGeom prst="roundRect">
            <a:avLst>
              <a:gd name="adj" fmla="val 3571"/>
            </a:avLst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111556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1389888"/>
            <a:ext cx="2926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Recruiters receive many resumes for one vacancy; manual review is slow and inconsistent.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keyword filters miss qualifications and give no explanation for rejection.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Black-box ranking tools are hard to audit for fairness.</a:t>
            </a:r>
            <a:endParaRPr lang="en-US" sz="10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050" i="1" dirty="0">
                <a:solidFill>
                  <a:srgbClr val="FF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check mandatory criteria, explain every failure, and rank eligible candidates transparently.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4114800" y="10058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6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4114800" y="1280160"/>
            <a:ext cx="4572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AI-Based Resume Screener compares candidate details (skills, education, CGPA, experience) against explicit job requirements. Mandatory requirements are modelled as constraints in a Constraint Satisfaction Problem (CSP). Constraint propagation stops the checks as soon as a hard requirement fails, and backtracking search tries the constraints one by one, undoing a step when it fails and recording which constraint failed. Breadth-First Search (BFS) then explores the candidates level by level through a queue, and those who pass are ranked by a manually designed weighted heuristic score. The system is rule-based (symbolic AI): no machine learning is used, so every decision can be explained.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" y="3749040"/>
            <a:ext cx="1920240" cy="868680"/>
          </a:xfrm>
          <a:prstGeom prst="roundRect">
            <a:avLst>
              <a:gd name="adj" fmla="val 10526"/>
            </a:avLst>
          </a:prstGeom>
          <a:solidFill>
            <a:srgbClr val="E7F2F3"/>
          </a:solidFill>
          <a:ln w="12700">
            <a:solidFill>
              <a:srgbClr val="E7F2F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3886200"/>
            <a:ext cx="54864" cy="59436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04088" y="37947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3C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704088" y="42519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 types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560320" y="3749040"/>
            <a:ext cx="1920240" cy="868680"/>
          </a:xfrm>
          <a:prstGeom prst="roundRect">
            <a:avLst>
              <a:gd name="adj" fmla="val 10526"/>
            </a:avLst>
          </a:prstGeom>
          <a:solidFill>
            <a:srgbClr val="E7F2F3"/>
          </a:solidFill>
          <a:ln w="12700">
            <a:solidFill>
              <a:srgbClr val="E7F2F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60320" y="3886200"/>
            <a:ext cx="54864" cy="59436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761488" y="37947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3C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2761488" y="42519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heuristic score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617720" y="3749040"/>
            <a:ext cx="1920240" cy="868680"/>
          </a:xfrm>
          <a:prstGeom prst="roundRect">
            <a:avLst>
              <a:gd name="adj" fmla="val 10526"/>
            </a:avLst>
          </a:prstGeom>
          <a:solidFill>
            <a:srgbClr val="E7F2F3"/>
          </a:solidFill>
          <a:ln w="12700">
            <a:solidFill>
              <a:srgbClr val="E7F2F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17720" y="3886200"/>
            <a:ext cx="54864" cy="59436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818888" y="37947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3C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2200" dirty="0"/>
          </a:p>
        </p:txBody>
      </p:sp>
      <p:sp>
        <p:nvSpPr>
          <p:cNvPr id="25" name="Text 23"/>
          <p:cNvSpPr txBox="1"/>
          <p:nvPr/>
        </p:nvSpPr>
        <p:spPr>
          <a:xfrm>
            <a:off x="4818888" y="42519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stages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675120" y="3749040"/>
            <a:ext cx="1920240" cy="868680"/>
          </a:xfrm>
          <a:prstGeom prst="roundRect">
            <a:avLst>
              <a:gd name="adj" fmla="val 10526"/>
            </a:avLst>
          </a:prstGeom>
          <a:solidFill>
            <a:srgbClr val="E7F2F3"/>
          </a:solidFill>
          <a:ln w="12700">
            <a:solidFill>
              <a:srgbClr val="E7F2F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675120" y="3886200"/>
            <a:ext cx="54864" cy="59436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876288" y="37947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3C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endParaRPr lang="en-US" sz="2200" dirty="0"/>
          </a:p>
        </p:txBody>
      </p:sp>
      <p:sp>
        <p:nvSpPr>
          <p:cNvPr id="29" name="Text 27"/>
          <p:cNvSpPr txBox="1"/>
          <p:nvPr/>
        </p:nvSpPr>
        <p:spPr>
          <a:xfrm>
            <a:off x="6876288" y="42519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 used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74320"/>
            <a:ext cx="182880" cy="64008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02920" y="256032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B3C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Literature Survey (1/2)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02920" y="749808"/>
            <a:ext cx="640080" cy="4572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92440" y="274320"/>
            <a:ext cx="594360" cy="310896"/>
          </a:xfrm>
          <a:prstGeom prst="roundRect">
            <a:avLst>
              <a:gd name="adj" fmla="val 50000"/>
            </a:avLst>
          </a:prstGeom>
          <a:solidFill>
            <a:srgbClr val="E7F2F3"/>
          </a:solidFill>
          <a:ln w="12700">
            <a:solidFill>
              <a:srgbClr val="E7F2F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092440" y="274320"/>
            <a:ext cx="594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6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4828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F6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Resume Screener  |  Foundations of AI</a:t>
            </a:r>
            <a:endParaRPr lang="en-US" sz="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960120"/>
          <a:ext cx="8183880" cy="273812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 (title · authors · venue)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Methodology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Advantages (+)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Limitations (−)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our project overcomes it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B3C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[1] Gender, Race, and Intersectional Bias in Resume Screening via Language Model Retrieval — K. Wilson, A. Caliskan, AIES 2024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 of LLM-based resume retrieval using resumes with varied names and identities.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Tested retrieval systems on a large set of resumes and job descriptions to measure demographic disparity.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Shows bias in AI screening with real evidence; motivates audits.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Black-box embeddings; cause of bias is hard to trace; no explanations.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F7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Uses explicit, auditable constraints and fixed weights; no name or demographic feature is used.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B3C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[2] Perceived algorithmic fairness: transparency and anthropomorphism in algorithmic recruiting — J. Ochmann et al., Information Systems Journal, 2024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Empirical (survey/experiment) study of how transparency affects perceived fairness.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Participants evaluated algorithmic recruiting scenarios with varied transparency.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Shows transparency improves perceived fairness.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Studies perception only; no screening system is built.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F7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Builds the transparency in: shows passed/failed constraints and score breakdown.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B3C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[3] Fairness, AI &amp; recruitment — Computer Law &amp; Security Review, 53, 2024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Legal and ethical analysis of fairness and discrimination in AI recruitment.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Conceptual review of regulation and accountability.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Clear view of discrimination and accountability risks.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technical implementation or evaluation.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F7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Rule-based decisions are reproducible; human review makes the final decision.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74320"/>
            <a:ext cx="182880" cy="64008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02920" y="256032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B3C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Literature Survey (2/2)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02920" y="749808"/>
            <a:ext cx="640080" cy="4572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92440" y="274320"/>
            <a:ext cx="594360" cy="310896"/>
          </a:xfrm>
          <a:prstGeom prst="roundRect">
            <a:avLst>
              <a:gd name="adj" fmla="val 50000"/>
            </a:avLst>
          </a:prstGeom>
          <a:solidFill>
            <a:srgbClr val="E7F2F3"/>
          </a:solidFill>
          <a:ln w="12700">
            <a:solidFill>
              <a:srgbClr val="E7F2F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092440" y="274320"/>
            <a:ext cx="594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6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4828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F6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Resume Screener  |  Foundations of AI</a:t>
            </a:r>
            <a:endParaRPr lang="en-US" sz="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960120"/>
          <a:ext cx="8183880" cy="260096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 (title · authors · venue)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Methodology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Advantages (+)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Limitations (−)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our project overcomes it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B3C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[4] Measuring gender and racial biases in LLMs: intersectional evidence from automated resume evaluation — J. An et al., PNAS Nexus, 2025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Scores resumes with LLMs under randomised identities and compares results across groups.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 across multiple identities and occupations.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Reveals intersectional biases at scale.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audits; offers no fairer alternative; LLM outputs vary.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F7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Deterministic scoring: same input always gives same result.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B3C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[5] Cracking the AI recruitment code: transparency in person–job fit — A. Chen, F. Han, X. Zhang, Y. Lu, Information &amp; Management, 2025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Studies how transparency in AI job-fit assessment affects trust and comparison with humans.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Empirical study of AI vs human person–job fit assessments.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Transparency narrows the gap between AI and human assessments.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Focuses on perception; model internals not simplified for small systems.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F7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verdict has a reason (which constraint failed or how the score was formed).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B3C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[6] Fair and Transparent AI-Driven Resume Screening: Bias-Aware ML — K. Shah, M. Rana, T. Pimple, SEEJPH, 2025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Bias-aware machine-learning model for automated screening.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 pipeline with fairness-aware evaluation of resume ranking.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Automates screening and considers fairness.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 training data; ML decisions harder to explain.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F7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training data needed; symbolic CSP + heuristic is simple and explainable.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74320"/>
            <a:ext cx="182880" cy="64008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02920" y="256032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B3C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Architecture &amp; Working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02920" y="749808"/>
            <a:ext cx="640080" cy="4572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92440" y="274320"/>
            <a:ext cx="594360" cy="310896"/>
          </a:xfrm>
          <a:prstGeom prst="roundRect">
            <a:avLst>
              <a:gd name="adj" fmla="val 50000"/>
            </a:avLst>
          </a:prstGeom>
          <a:solidFill>
            <a:srgbClr val="E7F2F3"/>
          </a:solidFill>
          <a:ln w="12700">
            <a:solidFill>
              <a:srgbClr val="E7F2F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092440" y="274320"/>
            <a:ext cx="594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6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4828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F6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Resume Screener  |  Foundations of AI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014984" y="1188720"/>
            <a:ext cx="7168896" cy="27432"/>
          </a:xfrm>
          <a:prstGeom prst="rect">
            <a:avLst/>
          </a:prstGeom>
          <a:solidFill>
            <a:srgbClr val="A9C9CE"/>
          </a:solidFill>
          <a:ln w="12700">
            <a:solidFill>
              <a:srgbClr val="A9C9C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32104" y="1024128"/>
            <a:ext cx="365760" cy="365760"/>
          </a:xfrm>
          <a:prstGeom prst="ellipse">
            <a:avLst/>
          </a:prstGeom>
          <a:solidFill>
            <a:srgbClr val="0B3C4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2104" y="10241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30352" y="1444752"/>
            <a:ext cx="969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0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5F6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+ job criteria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856232" y="1024128"/>
            <a:ext cx="365760" cy="365760"/>
          </a:xfrm>
          <a:prstGeom prst="ellipse">
            <a:avLst/>
          </a:prstGeom>
          <a:solidFill>
            <a:srgbClr val="0B3C4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856232" y="10241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554480" y="1444752"/>
            <a:ext cx="969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</a:t>
            </a:r>
            <a:endParaRPr lang="en-US" sz="90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5F6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 fields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880360" y="1024128"/>
            <a:ext cx="365760" cy="365760"/>
          </a:xfrm>
          <a:prstGeom prst="ellipse">
            <a:avLst/>
          </a:prstGeom>
          <a:solidFill>
            <a:srgbClr val="0B3C4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880360" y="10241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2578608" y="1444752"/>
            <a:ext cx="969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CSP model</a:t>
            </a:r>
            <a:endParaRPr lang="en-US" sz="90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5F6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criteria as constraints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904488" y="1024128"/>
            <a:ext cx="365760" cy="365760"/>
          </a:xfrm>
          <a:prstGeom prst="ellipse">
            <a:avLst/>
          </a:prstGeom>
          <a:solidFill>
            <a:srgbClr val="F28C2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904488" y="10241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3602736" y="1444752"/>
            <a:ext cx="969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Backtracking check</a:t>
            </a:r>
            <a:endParaRPr lang="en-US" sz="90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5F6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propagation + backtrack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928616" y="1024128"/>
            <a:ext cx="365760" cy="365760"/>
          </a:xfrm>
          <a:prstGeom prst="ellipse">
            <a:avLst/>
          </a:prstGeom>
          <a:solidFill>
            <a:srgbClr val="0B3C4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928616" y="10241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4626864" y="1444752"/>
            <a:ext cx="969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</a:t>
            </a:r>
            <a:endParaRPr lang="en-US" sz="90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5F6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/ fail + reasons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952744" y="1024128"/>
            <a:ext cx="365760" cy="365760"/>
          </a:xfrm>
          <a:prstGeom prst="ellipse">
            <a:avLst/>
          </a:prstGeom>
          <a:solidFill>
            <a:srgbClr val="F28C2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952744" y="10241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5650992" y="1444752"/>
            <a:ext cx="969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 search</a:t>
            </a:r>
            <a:endParaRPr lang="en-US" sz="90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5F6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queue, level by level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976872" y="1024128"/>
            <a:ext cx="365760" cy="365760"/>
          </a:xfrm>
          <a:prstGeom prst="ellipse">
            <a:avLst/>
          </a:prstGeom>
          <a:solidFill>
            <a:srgbClr val="0B3C4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976872" y="10241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6675120" y="1444752"/>
            <a:ext cx="969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&amp; rank</a:t>
            </a:r>
            <a:endParaRPr lang="en-US" sz="90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5F6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weighted, out of 100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8001000" y="1024128"/>
            <a:ext cx="365760" cy="365760"/>
          </a:xfrm>
          <a:prstGeom prst="ellipse">
            <a:avLst/>
          </a:prstGeom>
          <a:solidFill>
            <a:srgbClr val="0B3C4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001000" y="10241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7699248" y="1444752"/>
            <a:ext cx="969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90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5F6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list + reasons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02920" y="2057400"/>
            <a:ext cx="8183880" cy="310896"/>
          </a:xfrm>
          <a:prstGeom prst="roundRect">
            <a:avLst>
              <a:gd name="adj" fmla="val 50000"/>
            </a:avLst>
          </a:prstGeom>
          <a:solidFill>
            <a:srgbClr val="E7F2F3"/>
          </a:solidFill>
          <a:ln w="12700">
            <a:solidFill>
              <a:srgbClr val="E7F2F3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02920" y="2057400"/>
            <a:ext cx="8183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1B6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constraints decide eligibility first; the score ranks only candidates who pass. Human review makes the final hiring decision.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02920" y="2514600"/>
            <a:ext cx="278892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C9DCD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0080" y="2633472"/>
            <a:ext cx="320040" cy="36576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40080" y="2706624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3C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CSP formulation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640080" y="3017520"/>
            <a:ext cx="25146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850" b="1" dirty="0">
                <a:solidFill>
                  <a:srgbClr val="1B6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Variables:  </a:t>
            </a:r>
            <a:r>
              <a:rPr lang="en-US" sz="850" dirty="0">
                <a:solidFill>
                  <a:srgbClr val="1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attributes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b="1" dirty="0">
                <a:solidFill>
                  <a:srgbClr val="1B6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Domain:  </a:t>
            </a:r>
            <a:r>
              <a:rPr lang="en-US" sz="850" dirty="0">
                <a:solidFill>
                  <a:srgbClr val="1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skills, degree, CGPA, years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b="1" dirty="0">
                <a:solidFill>
                  <a:srgbClr val="1B6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Constraints:  </a:t>
            </a:r>
            <a:r>
              <a:rPr lang="en-US" sz="850" dirty="0">
                <a:solidFill>
                  <a:srgbClr val="1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skills, min. education, min. CGPA, min. experience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b="1" dirty="0">
                <a:solidFill>
                  <a:srgbClr val="1B6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Search:  </a:t>
            </a:r>
            <a:r>
              <a:rPr lang="en-US" sz="850" dirty="0">
                <a:solidFill>
                  <a:srgbClr val="1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backtracking (CSP) + BFS (candidates)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b="1" dirty="0">
                <a:solidFill>
                  <a:srgbClr val="1B6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Propagation:  </a:t>
            </a:r>
            <a:r>
              <a:rPr lang="en-US" sz="850" dirty="0">
                <a:solidFill>
                  <a:srgbClr val="1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failure rejects the candidate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b="1" dirty="0">
                <a:solidFill>
                  <a:srgbClr val="1B6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Rank:  </a:t>
            </a:r>
            <a:r>
              <a:rPr lang="en-US" sz="850" dirty="0">
                <a:solidFill>
                  <a:srgbClr val="1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= 50S + 20P + 15E + 10C + 5X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429000" y="2514600"/>
            <a:ext cx="278892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C9DCD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566160" y="2633472"/>
            <a:ext cx="320040" cy="36576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3566160" y="2706624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3C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Example (illustrative)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3566160" y="3017520"/>
            <a:ext cx="25146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850" b="1" dirty="0">
                <a:solidFill>
                  <a:srgbClr val="1B6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Job:  </a:t>
            </a:r>
            <a:r>
              <a:rPr lang="en-US" sz="850" dirty="0">
                <a:solidFill>
                  <a:srgbClr val="1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SQL, CGPA ≥ 7.0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b="1" dirty="0">
                <a:solidFill>
                  <a:srgbClr val="1B6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A:  </a:t>
            </a:r>
            <a:r>
              <a:rPr lang="en-US" sz="850" dirty="0">
                <a:solidFill>
                  <a:srgbClr val="1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CGPA 6.4 → fails, backtrack and reject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b="1" dirty="0">
                <a:solidFill>
                  <a:srgbClr val="1B6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B:  </a:t>
            </a:r>
            <a:r>
              <a:rPr lang="en-US" sz="850" dirty="0">
                <a:solidFill>
                  <a:srgbClr val="1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constraints pass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b="1" dirty="0">
                <a:solidFill>
                  <a:srgbClr val="1B6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B:  </a:t>
            </a:r>
            <a:r>
              <a:rPr lang="en-US" sz="850" dirty="0">
                <a:solidFill>
                  <a:srgbClr val="1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50 + Preferred 10 + Edu 15 + CGPA 8 + Exp 3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b="1" dirty="0">
                <a:solidFill>
                  <a:srgbClr val="1B6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 </a:t>
            </a:r>
            <a:r>
              <a:rPr lang="en-US" sz="850" dirty="0">
                <a:solidFill>
                  <a:srgbClr val="1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 / 100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b="1" dirty="0">
                <a:solidFill>
                  <a:srgbClr val="1B6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 </a:t>
            </a:r>
            <a:r>
              <a:rPr lang="en-US" sz="850" dirty="0">
                <a:solidFill>
                  <a:srgbClr val="1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ranked, A rejected with reason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6355080" y="2514600"/>
            <a:ext cx="233172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C9DCD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492240" y="2633472"/>
            <a:ext cx="320040" cy="36576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6492240" y="2706624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3C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Technology stack</a:t>
            </a:r>
            <a:endParaRPr lang="en-US" sz="1050" dirty="0"/>
          </a:p>
        </p:txBody>
      </p:sp>
      <p:sp>
        <p:nvSpPr>
          <p:cNvPr id="47" name="Text 45"/>
          <p:cNvSpPr txBox="1"/>
          <p:nvPr/>
        </p:nvSpPr>
        <p:spPr>
          <a:xfrm>
            <a:off x="6492240" y="3017520"/>
            <a:ext cx="20574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850" b="1" dirty="0">
                <a:solidFill>
                  <a:srgbClr val="1B6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Language:  </a:t>
            </a:r>
            <a:r>
              <a:rPr lang="en-US" sz="850" dirty="0">
                <a:solidFill>
                  <a:srgbClr val="1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b="1" dirty="0">
                <a:solidFill>
                  <a:srgbClr val="1B6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Logic:  </a:t>
            </a:r>
            <a:r>
              <a:rPr lang="en-US" sz="850" dirty="0">
                <a:solidFill>
                  <a:srgbClr val="1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CSP + rule-based scoring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b="1" dirty="0">
                <a:solidFill>
                  <a:srgbClr val="1B6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 </a:t>
            </a:r>
            <a:r>
              <a:rPr lang="en-US" sz="850" dirty="0">
                <a:solidFill>
                  <a:srgbClr val="1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form / text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b="1" dirty="0">
                <a:solidFill>
                  <a:srgbClr val="1B6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Interface:  </a:t>
            </a:r>
            <a:r>
              <a:rPr lang="en-US" sz="850" dirty="0">
                <a:solidFill>
                  <a:srgbClr val="1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[Web UI / CLI – edit]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b="1" dirty="0">
                <a:solidFill>
                  <a:srgbClr val="1B6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 </a:t>
            </a:r>
            <a:r>
              <a:rPr lang="en-US" sz="850" dirty="0">
                <a:solidFill>
                  <a:srgbClr val="1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resumes (CSV/JSON)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74320"/>
            <a:ext cx="182880" cy="64008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02920" y="256032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B3C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Implementation — Modules 1 to 3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02920" y="749808"/>
            <a:ext cx="640080" cy="4572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92440" y="274320"/>
            <a:ext cx="594360" cy="310896"/>
          </a:xfrm>
          <a:prstGeom prst="roundRect">
            <a:avLst>
              <a:gd name="adj" fmla="val 50000"/>
            </a:avLst>
          </a:prstGeom>
          <a:solidFill>
            <a:srgbClr val="E7F2F3"/>
          </a:solidFill>
          <a:ln w="12700">
            <a:solidFill>
              <a:srgbClr val="E7F2F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092440" y="274320"/>
            <a:ext cx="594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6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4828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F6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Resume Screener  |  Foundations of AI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02920" y="1005840"/>
            <a:ext cx="2606040" cy="3611880"/>
          </a:xfrm>
          <a:prstGeom prst="roundRect">
            <a:avLst>
              <a:gd name="adj" fmla="val 2807"/>
            </a:avLst>
          </a:prstGeom>
          <a:solidFill>
            <a:srgbClr val="E7F2F3"/>
          </a:solidFill>
          <a:ln w="12700">
            <a:solidFill>
              <a:srgbClr val="E7F2F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005840"/>
            <a:ext cx="2606040" cy="685800"/>
          </a:xfrm>
          <a:prstGeom prst="roundRect">
            <a:avLst>
              <a:gd name="adj" fmla="val 10667"/>
            </a:avLst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1371600"/>
            <a:ext cx="2606040" cy="320040"/>
          </a:xfrm>
          <a:prstGeom prst="rect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1143000"/>
            <a:ext cx="411480" cy="41148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1143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3C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161288" y="114300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Input &amp; Parsing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18288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1B6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resume details and job criteria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2240280"/>
            <a:ext cx="2331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Fields: skills, education, CGPA, experience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 text: lower-case, trim, skill aliases (py → python)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candidate and job objects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40080" y="3977640"/>
            <a:ext cx="23317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04088" y="39776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clean structured candidate data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291840" y="1005840"/>
            <a:ext cx="2606040" cy="3611880"/>
          </a:xfrm>
          <a:prstGeom prst="roundRect">
            <a:avLst>
              <a:gd name="adj" fmla="val 2807"/>
            </a:avLst>
          </a:prstGeom>
          <a:solidFill>
            <a:srgbClr val="E7F2F3"/>
          </a:solidFill>
          <a:ln w="12700">
            <a:solidFill>
              <a:srgbClr val="E7F2F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91840" y="1005840"/>
            <a:ext cx="2606040" cy="685800"/>
          </a:xfrm>
          <a:prstGeom prst="roundRect">
            <a:avLst>
              <a:gd name="adj" fmla="val 10667"/>
            </a:avLst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91840" y="1371600"/>
            <a:ext cx="2606040" cy="320040"/>
          </a:xfrm>
          <a:prstGeom prst="rect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29000" y="1143000"/>
            <a:ext cx="411480" cy="41148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429000" y="1143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3C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3950208" y="114300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CSP Constraint Engine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3429000" y="18288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1B6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 using constraint propagation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3429000" y="2240280"/>
            <a:ext cx="2331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criteria = hard constraints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Backtracking search: check constraints one by one, backtrack on failure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which constraint failed and why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429000" y="3977640"/>
            <a:ext cx="23317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493008" y="39776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Eligible / Rejected + reasons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080760" y="1005840"/>
            <a:ext cx="2606040" cy="3611880"/>
          </a:xfrm>
          <a:prstGeom prst="roundRect">
            <a:avLst>
              <a:gd name="adj" fmla="val 2807"/>
            </a:avLst>
          </a:prstGeom>
          <a:solidFill>
            <a:srgbClr val="E7F2F3"/>
          </a:solidFill>
          <a:ln w="12700">
            <a:solidFill>
              <a:srgbClr val="E7F2F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80760" y="1005840"/>
            <a:ext cx="2606040" cy="685800"/>
          </a:xfrm>
          <a:prstGeom prst="roundRect">
            <a:avLst>
              <a:gd name="adj" fmla="val 10667"/>
            </a:avLst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080760" y="1371600"/>
            <a:ext cx="2606040" cy="320040"/>
          </a:xfrm>
          <a:prstGeom prst="rect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217920" y="1143000"/>
            <a:ext cx="411480" cy="41148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217920" y="1143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3C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6739128" y="114300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BFS &amp; Ranking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6217920" y="18288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1B6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 exploration, then score-based ranking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6217920" y="2240280"/>
            <a:ext cx="2331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BFS: candidates processed level by level using a FIFO queue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Weights: Skills 50, Preferred 20, Education 15, CGPA 10, Experience 5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by score; show score breakdown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217920" y="3977640"/>
            <a:ext cx="23317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281928" y="39776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ranked shortlist + explanation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74320"/>
            <a:ext cx="182880" cy="64008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02920" y="242485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B3C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Output Screenshots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02920" y="749808"/>
            <a:ext cx="640080" cy="4572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92440" y="274320"/>
            <a:ext cx="594360" cy="310896"/>
          </a:xfrm>
          <a:prstGeom prst="roundRect">
            <a:avLst>
              <a:gd name="adj" fmla="val 50000"/>
            </a:avLst>
          </a:prstGeom>
          <a:solidFill>
            <a:srgbClr val="E7F2F3"/>
          </a:solidFill>
          <a:ln w="12700">
            <a:solidFill>
              <a:srgbClr val="E7F2F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092440" y="274320"/>
            <a:ext cx="594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6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4828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F6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Resume Screener  |  Foundations of AI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02920" y="960120"/>
            <a:ext cx="4023360" cy="1600200"/>
          </a:xfrm>
          <a:prstGeom prst="roundRect">
            <a:avLst>
              <a:gd name="adj" fmla="val 4571"/>
            </a:avLst>
          </a:prstGeom>
          <a:solidFill>
            <a:srgbClr val="E7F2F3"/>
          </a:solidFill>
          <a:ln w="12700">
            <a:solidFill>
              <a:srgbClr val="A9C9C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960120"/>
            <a:ext cx="4023360" cy="256032"/>
          </a:xfrm>
          <a:prstGeom prst="roundRect">
            <a:avLst>
              <a:gd name="adj" fmla="val 28571"/>
            </a:avLst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1088136"/>
            <a:ext cx="4023360" cy="128016"/>
          </a:xfrm>
          <a:prstGeom prst="rect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2648" y="1042416"/>
            <a:ext cx="91440" cy="9144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58952" y="1042416"/>
            <a:ext cx="91440" cy="91440"/>
          </a:xfrm>
          <a:prstGeom prst="ellipse">
            <a:avLst/>
          </a:prstGeom>
          <a:solidFill>
            <a:srgbClr val="8FB8BF"/>
          </a:solidFill>
          <a:ln w="12700">
            <a:solidFill>
              <a:srgbClr val="8FB8B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05256" y="1042416"/>
            <a:ext cx="91440" cy="91440"/>
          </a:xfrm>
          <a:prstGeom prst="ellipse">
            <a:avLst/>
          </a:prstGeom>
          <a:solidFill>
            <a:srgbClr val="8FB8BF"/>
          </a:solidFill>
          <a:ln w="12700">
            <a:solidFill>
              <a:srgbClr val="8FB8B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02920" y="260604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screen — resume details and job criteria input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663440" y="960120"/>
            <a:ext cx="4023360" cy="1600200"/>
          </a:xfrm>
          <a:prstGeom prst="roundRect">
            <a:avLst>
              <a:gd name="adj" fmla="val 4571"/>
            </a:avLst>
          </a:prstGeom>
          <a:solidFill>
            <a:srgbClr val="E7F2F3"/>
          </a:solidFill>
          <a:ln w="12700">
            <a:solidFill>
              <a:srgbClr val="A9C9C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960120"/>
            <a:ext cx="4023360" cy="256032"/>
          </a:xfrm>
          <a:prstGeom prst="roundRect">
            <a:avLst>
              <a:gd name="adj" fmla="val 28571"/>
            </a:avLst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1088136"/>
            <a:ext cx="4023360" cy="128016"/>
          </a:xfrm>
          <a:prstGeom prst="rect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73168" y="1042416"/>
            <a:ext cx="91440" cy="9144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919472" y="1042416"/>
            <a:ext cx="91440" cy="91440"/>
          </a:xfrm>
          <a:prstGeom prst="ellipse">
            <a:avLst/>
          </a:prstGeom>
          <a:solidFill>
            <a:srgbClr val="8FB8BF"/>
          </a:solidFill>
          <a:ln w="12700">
            <a:solidFill>
              <a:srgbClr val="8FB8B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65776" y="1042416"/>
            <a:ext cx="91440" cy="91440"/>
          </a:xfrm>
          <a:prstGeom prst="ellipse">
            <a:avLst/>
          </a:prstGeom>
          <a:solidFill>
            <a:srgbClr val="8FB8BF"/>
          </a:solidFill>
          <a:ln w="12700">
            <a:solidFill>
              <a:srgbClr val="8FB8B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663440" y="1216152"/>
            <a:ext cx="402336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F6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Paste screenshot 2 here ]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4663440" y="260604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 result — passed / failed constraints with reasons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02920" y="2880360"/>
            <a:ext cx="4023360" cy="1600200"/>
          </a:xfrm>
          <a:prstGeom prst="roundRect">
            <a:avLst>
              <a:gd name="adj" fmla="val 4571"/>
            </a:avLst>
          </a:prstGeom>
          <a:solidFill>
            <a:srgbClr val="E7F2F3"/>
          </a:solidFill>
          <a:ln w="12700">
            <a:solidFill>
              <a:srgbClr val="A9C9C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2920" y="2880360"/>
            <a:ext cx="4023360" cy="256032"/>
          </a:xfrm>
          <a:prstGeom prst="roundRect">
            <a:avLst>
              <a:gd name="adj" fmla="val 28571"/>
            </a:avLst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" y="3008376"/>
            <a:ext cx="4023360" cy="128016"/>
          </a:xfrm>
          <a:prstGeom prst="rect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2648" y="2962656"/>
            <a:ext cx="91440" cy="9144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2962656"/>
            <a:ext cx="91440" cy="91440"/>
          </a:xfrm>
          <a:prstGeom prst="ellipse">
            <a:avLst/>
          </a:prstGeom>
          <a:solidFill>
            <a:srgbClr val="8FB8BF"/>
          </a:solidFill>
          <a:ln w="12700">
            <a:solidFill>
              <a:srgbClr val="8FB8B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05256" y="2962656"/>
            <a:ext cx="91440" cy="91440"/>
          </a:xfrm>
          <a:prstGeom prst="ellipse">
            <a:avLst/>
          </a:prstGeom>
          <a:solidFill>
            <a:srgbClr val="8FB8BF"/>
          </a:solidFill>
          <a:ln w="12700">
            <a:solidFill>
              <a:srgbClr val="8FB8B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02920" y="3136392"/>
            <a:ext cx="402336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F6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Paste screenshot 3 here ]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502920" y="452628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candidate list with score breakdown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663440" y="2880360"/>
            <a:ext cx="4023360" cy="1600200"/>
          </a:xfrm>
          <a:prstGeom prst="roundRect">
            <a:avLst>
              <a:gd name="adj" fmla="val 4571"/>
            </a:avLst>
          </a:prstGeom>
          <a:solidFill>
            <a:srgbClr val="E7F2F3"/>
          </a:solidFill>
          <a:ln w="12700">
            <a:solidFill>
              <a:srgbClr val="A9C9C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63440" y="2880360"/>
            <a:ext cx="4023360" cy="256032"/>
          </a:xfrm>
          <a:prstGeom prst="roundRect">
            <a:avLst>
              <a:gd name="adj" fmla="val 28571"/>
            </a:avLst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663440" y="3008376"/>
            <a:ext cx="4023360" cy="128016"/>
          </a:xfrm>
          <a:prstGeom prst="rect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73168" y="2962656"/>
            <a:ext cx="91440" cy="9144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919472" y="2962656"/>
            <a:ext cx="91440" cy="91440"/>
          </a:xfrm>
          <a:prstGeom prst="ellipse">
            <a:avLst/>
          </a:prstGeom>
          <a:solidFill>
            <a:srgbClr val="8FB8BF"/>
          </a:solidFill>
          <a:ln w="12700">
            <a:solidFill>
              <a:srgbClr val="8FB8B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065776" y="2962656"/>
            <a:ext cx="91440" cy="91440"/>
          </a:xfrm>
          <a:prstGeom prst="ellipse">
            <a:avLst/>
          </a:prstGeom>
          <a:solidFill>
            <a:srgbClr val="8FB8BF"/>
          </a:solidFill>
          <a:ln w="12700">
            <a:solidFill>
              <a:srgbClr val="8FB8BF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4663440" y="3136392"/>
            <a:ext cx="402336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F6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Paste screenshot 4 here ]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4663440" y="452628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 candidate — failed constraint explained</a:t>
            </a:r>
            <a:endParaRPr lang="en-US" sz="850" dirty="0"/>
          </a:p>
        </p:txBody>
      </p:sp>
      <p:sp>
        <p:nvSpPr>
          <p:cNvPr id="41" name="AutoShape 2" descr="blob:https://web.whatsapp.com/94a26548-ca40-4904-8f74-8b7c33c4f3c0">
            <a:extLst>
              <a:ext uri="{FF2B5EF4-FFF2-40B4-BE49-F238E27FC236}">
                <a16:creationId xmlns:a16="http://schemas.microsoft.com/office/drawing/2014/main" id="{D31C5CCB-E71F-4DED-AF6F-F85B05E1824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027932" y="2307294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B44D9A2B-5AD9-4E59-A6E8-5F1179D91B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9" y="1216152"/>
            <a:ext cx="3720084" cy="1323488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07F8C4DD-25D9-46D0-BBB5-EE01ABD167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9744" y="1217676"/>
            <a:ext cx="3669792" cy="1318611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FEE1FA80-4195-4F54-8FB5-837E87EF47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3157083"/>
            <a:ext cx="3674364" cy="1250325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40DC6F17-8B16-4A5D-932A-C68102597DD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9744" y="3131652"/>
            <a:ext cx="3669791" cy="133748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74320"/>
            <a:ext cx="182880" cy="64008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02920" y="256032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B3C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 &amp; Future Enhancements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02920" y="749808"/>
            <a:ext cx="640080" cy="4572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92440" y="274320"/>
            <a:ext cx="594360" cy="310896"/>
          </a:xfrm>
          <a:prstGeom prst="roundRect">
            <a:avLst>
              <a:gd name="adj" fmla="val 50000"/>
            </a:avLst>
          </a:prstGeom>
          <a:solidFill>
            <a:srgbClr val="E7F2F3"/>
          </a:solidFill>
          <a:ln w="12700">
            <a:solidFill>
              <a:srgbClr val="E7F2F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092440" y="274320"/>
            <a:ext cx="594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6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4828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F6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Resume Screener  |  Foundations of AI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100584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6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02920" y="1280160"/>
            <a:ext cx="1280160" cy="868680"/>
          </a:xfrm>
          <a:prstGeom prst="roundRect">
            <a:avLst>
              <a:gd name="adj" fmla="val 8421"/>
            </a:avLst>
          </a:prstGeom>
          <a:solidFill>
            <a:srgbClr val="E7F2F3"/>
          </a:solidFill>
          <a:ln w="12700">
            <a:solidFill>
              <a:srgbClr val="E7F2F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12648" y="13258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3C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612648" y="18013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F6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 types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920240" y="1280160"/>
            <a:ext cx="1280160" cy="868680"/>
          </a:xfrm>
          <a:prstGeom prst="roundRect">
            <a:avLst>
              <a:gd name="adj" fmla="val 8421"/>
            </a:avLst>
          </a:prstGeom>
          <a:solidFill>
            <a:srgbClr val="E7F2F3"/>
          </a:solidFill>
          <a:ln w="12700">
            <a:solidFill>
              <a:srgbClr val="E7F2F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029968" y="13258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3C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2029968" y="18013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F6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score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337560" y="1280160"/>
            <a:ext cx="1280160" cy="868680"/>
          </a:xfrm>
          <a:prstGeom prst="roundRect">
            <a:avLst>
              <a:gd name="adj" fmla="val 8421"/>
            </a:avLst>
          </a:prstGeom>
          <a:solidFill>
            <a:srgbClr val="E7F2F3"/>
          </a:solidFill>
          <a:ln w="12700">
            <a:solidFill>
              <a:srgbClr val="E7F2F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447288" y="13258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3C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3447288" y="18013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F6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502920" y="2331720"/>
            <a:ext cx="4114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requirements are represented as explicit constraints (CSP).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 propagation and backtracking find hard-constraint failures early.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 explores candidates systematically; a weighted heuristic ranks those who pass.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comes with an understandable reason.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Symbolic AI only: no training data or ML/DL model needed.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892040" y="1005840"/>
            <a:ext cx="3794760" cy="3611880"/>
          </a:xfrm>
          <a:prstGeom prst="roundRect">
            <a:avLst>
              <a:gd name="adj" fmla="val 2532"/>
            </a:avLst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120640" y="114300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512064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28C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5623560" y="15087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resume parsing</a:t>
            </a:r>
            <a:endParaRPr lang="en-US" sz="1050" dirty="0"/>
          </a:p>
          <a:p>
            <a:pPr marL="0" indent="0">
              <a:buNone/>
            </a:pPr>
            <a:r>
              <a:rPr lang="en-US" sz="850" dirty="0">
                <a:solidFill>
                  <a:srgbClr val="B8D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PDF/DOCX text extraction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5120640" y="2121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28C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5623560" y="212140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rules</a:t>
            </a:r>
            <a:endParaRPr lang="en-US" sz="1050" dirty="0"/>
          </a:p>
          <a:p>
            <a:pPr marL="0" indent="0">
              <a:buNone/>
            </a:pPr>
            <a:r>
              <a:rPr lang="en-US" sz="850" dirty="0">
                <a:solidFill>
                  <a:srgbClr val="B8D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recruiter-set constraints and weights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5120640" y="27340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28C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5623560" y="2734056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audit</a:t>
            </a:r>
            <a:endParaRPr lang="en-US" sz="1050" dirty="0"/>
          </a:p>
          <a:p>
            <a:pPr marL="0" indent="0">
              <a:buNone/>
            </a:pPr>
            <a:r>
              <a:rPr lang="en-US" sz="850" dirty="0">
                <a:solidFill>
                  <a:srgbClr val="B8D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anonymised screening and audit reports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5120640" y="33467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28C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5623560" y="3346704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050" dirty="0"/>
          </a:p>
          <a:p>
            <a:pPr marL="0" indent="0">
              <a:buNone/>
            </a:pPr>
            <a:r>
              <a:rPr lang="en-US" sz="850" dirty="0">
                <a:solidFill>
                  <a:srgbClr val="B8D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consented, diverse sample resumes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5120640" y="3959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28C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5623560" y="395935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&amp; logs</a:t>
            </a:r>
            <a:endParaRPr lang="en-US" sz="1050" dirty="0"/>
          </a:p>
          <a:p>
            <a:pPr marL="0" indent="0">
              <a:buNone/>
            </a:pPr>
            <a:r>
              <a:rPr lang="en-US" sz="850" dirty="0">
                <a:solidFill>
                  <a:srgbClr val="B8D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 feedback, audit trail, data protection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74320"/>
            <a:ext cx="182880" cy="64008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02920" y="256032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B3C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References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02920" y="749808"/>
            <a:ext cx="640080" cy="4572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92440" y="274320"/>
            <a:ext cx="594360" cy="310896"/>
          </a:xfrm>
          <a:prstGeom prst="roundRect">
            <a:avLst>
              <a:gd name="adj" fmla="val 50000"/>
            </a:avLst>
          </a:prstGeom>
          <a:solidFill>
            <a:srgbClr val="E7F2F3"/>
          </a:solidFill>
          <a:ln w="12700">
            <a:solidFill>
              <a:srgbClr val="E7F2F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092440" y="274320"/>
            <a:ext cx="594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6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4828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F6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Resume Screener  |  Foundations of AI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1005840"/>
            <a:ext cx="818388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 </a:t>
            </a:r>
            <a:r>
              <a:rPr lang="en-US" sz="950" dirty="0">
                <a:solidFill>
                  <a:srgbClr val="1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K. Wilson and A. Caliskan, “Gender, Race, and Intersectional Bias in Resume Screening via Language Model Retrieval,” Proc. AAAI/ACM Conf. on AI, Ethics, and Society, vol. 7, no. 1, pp. 1578–1590, 2024, doi: 10.1609/aies.v7i1.31748.</a:t>
            </a:r>
            <a:endParaRPr lang="en-US" sz="9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 </a:t>
            </a:r>
            <a:r>
              <a:rPr lang="en-US" sz="950" dirty="0">
                <a:solidFill>
                  <a:srgbClr val="1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J. Ochmann et al., “Perceived algorithmic fairness: An empirical study of transparency and anthropomorphism in algorithmic recruiting,” Information Systems Journal, vol. 34, no. 2, pp. 384–414, 2024, doi: 10.1111/isj.12482.</a:t>
            </a:r>
            <a:endParaRPr lang="en-US" sz="9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 </a:t>
            </a:r>
            <a:r>
              <a:rPr lang="en-US" sz="950" dirty="0">
                <a:solidFill>
                  <a:srgbClr val="1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“Fairness, AI &amp; recruitment,” Computer Law &amp; Security Review, vol. 53, 105966, 2024, doi: 10.1016/j.clsr.2024.105966.</a:t>
            </a:r>
            <a:endParaRPr lang="en-US" sz="9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 </a:t>
            </a:r>
            <a:r>
              <a:rPr lang="en-US" sz="950" dirty="0">
                <a:solidFill>
                  <a:srgbClr val="1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J. An et al., “Measuring gender and racial biases in large language models: Intersectional evidence from automated resume evaluation,” PNAS Nexus, vol. 4, no. 3, pgaf089, 2025, doi: 10.1093/pnasnexus/pgaf089.</a:t>
            </a:r>
            <a:endParaRPr lang="en-US" sz="9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 </a:t>
            </a:r>
            <a:r>
              <a:rPr lang="en-US" sz="950" dirty="0">
                <a:solidFill>
                  <a:srgbClr val="1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Chen, F. Han, X. Zhang and Y. Lu, “Cracking the AI recruitment code: Striving for transparency in finding the right person–job fit,” Information &amp; Management, vol. 62, no. 5, 104156, 2025, doi: 10.1016/j.im.2025.104156.</a:t>
            </a:r>
            <a:endParaRPr lang="en-US" sz="9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 </a:t>
            </a:r>
            <a:r>
              <a:rPr lang="en-US" sz="950" dirty="0">
                <a:solidFill>
                  <a:srgbClr val="1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K. Shah, M. Rana and T. Pimple, “Fair and Transparent AI-Driven Resume Screening: Enhancing Recruitment with Bias-Aware Machine Learning,” South Eastern European Journal of Public Health, 2025, doi: 10.70135/seejph.vi.4674.</a:t>
            </a:r>
            <a:endParaRPr lang="en-US" sz="9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 </a:t>
            </a:r>
            <a:r>
              <a:rPr lang="en-US" sz="950" dirty="0">
                <a:solidFill>
                  <a:srgbClr val="1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Russell and P. Norvig, Artificial Intelligence: A Modern Approach, 4th ed. Pearson, 2020.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3C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914400"/>
            <a:ext cx="4114800" cy="4114800"/>
          </a:xfrm>
          <a:prstGeom prst="ellipse">
            <a:avLst/>
          </a:prstGeom>
          <a:solidFill>
            <a:srgbClr val="1B6F7C"/>
          </a:solidFill>
          <a:ln w="12700">
            <a:solidFill>
              <a:srgbClr val="1B6F7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589520" y="3291840"/>
            <a:ext cx="2377440" cy="237744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920240"/>
            <a:ext cx="822960" cy="64008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210312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971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8D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1954</Words>
  <Application>Microsoft Office PowerPoint</Application>
  <PresentationFormat>On-screen Show (16:9)</PresentationFormat>
  <Paragraphs>227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AI-Based Resume Screener</dc:title>
  <dc:subject>PptxGenJS Presentation</dc:subject>
  <dc:creator>PptxGenJS</dc:creator>
  <cp:lastModifiedBy>nethracg07@gmail.com</cp:lastModifiedBy>
  <cp:revision>3</cp:revision>
  <dcterms:created xsi:type="dcterms:W3CDTF">2026-10-19T05:38:09Z</dcterms:created>
  <dcterms:modified xsi:type="dcterms:W3CDTF">2026-10-19T05:53:55Z</dcterms:modified>
</cp:coreProperties>
</file>